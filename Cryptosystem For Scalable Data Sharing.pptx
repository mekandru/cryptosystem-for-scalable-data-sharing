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9" r:id="rId3"/>
    <p:sldId id="259" r:id="rId4"/>
    <p:sldId id="260" r:id="rId5"/>
    <p:sldId id="271" r:id="rId6"/>
    <p:sldId id="256" r:id="rId7"/>
    <p:sldId id="257" r:id="rId8"/>
    <p:sldId id="261" r:id="rId9"/>
    <p:sldId id="268" r:id="rId10"/>
    <p:sldId id="262" r:id="rId11"/>
    <p:sldId id="263" r:id="rId12"/>
    <p:sldId id="264" r:id="rId13"/>
    <p:sldId id="265" r:id="rId14"/>
    <p:sldId id="267"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33"/>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8" d="100"/>
          <a:sy n="68" d="100"/>
        </p:scale>
        <p:origin x="-142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2">
        <a:schemeClr val="bg2"/>
      </p:bgRef>
    </p:bg>
    <p:spTree>
      <p:nvGrpSpPr>
        <p:cNvPr id="1" name=""/>
        <p:cNvGrpSpPr/>
        <p:nvPr/>
      </p:nvGrpSpPr>
      <p:grpSpPr>
        <a:xfrm>
          <a:off x="0" y="0"/>
          <a:ext cx="0" cy="0"/>
          <a:chOff x="0" y="0"/>
          <a:chExt cx="0" cy="0"/>
        </a:xfrm>
      </p:grpSpPr>
      <p:sp>
        <p:nvSpPr>
          <p:cNvPr id="7" name="Freeform 6"/>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4A2E343A-72D0-4975-BFBE-4D0E860A0587}" type="datetimeFigureOut">
              <a:rPr lang="en-US" smtClean="0"/>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81997D8-A71B-4DD8-9459-E297CA76FA90}"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A2E343A-72D0-4975-BFBE-4D0E860A058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2">
        <a:schemeClr val="bg2"/>
      </p:bgRef>
    </p:bg>
    <p:spTree>
      <p:nvGrpSpPr>
        <p:cNvPr id="1" name=""/>
        <p:cNvGrpSpPr/>
        <p:nvPr/>
      </p:nvGrpSpPr>
      <p:grpSpPr>
        <a:xfrm>
          <a:off x="0" y="0"/>
          <a:ext cx="0" cy="0"/>
          <a:chOff x="0" y="0"/>
          <a:chExt cx="0" cy="0"/>
        </a:xfrm>
      </p:grpSpPr>
      <p:sp>
        <p:nvSpPr>
          <p:cNvPr id="7" name="Freeform 6"/>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4A2E343A-72D0-4975-BFBE-4D0E860A058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97D8-A71B-4DD8-9459-E297CA76FA90}"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A2E343A-72D0-4975-BFBE-4D0E860A058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A2E343A-72D0-4975-BFBE-4D0E860A058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4A2E343A-72D0-4975-BFBE-4D0E860A0587}" type="datetimeFigureOut">
              <a:rPr lang="en-US" smtClean="0"/>
            </a:fld>
            <a:endParaRPr lang="en-US"/>
          </a:p>
        </p:txBody>
      </p:sp>
      <p:sp>
        <p:nvSpPr>
          <p:cNvPr id="8" name="Slide Number Placeholder 7"/>
          <p:cNvSpPr>
            <a:spLocks noGrp="1"/>
          </p:cNvSpPr>
          <p:nvPr>
            <p:ph type="sldNum" sz="quarter" idx="11"/>
          </p:nvPr>
        </p:nvSpPr>
        <p:spPr/>
        <p:txBody>
          <a:bodyPr/>
          <a:lstStyle/>
          <a:p>
            <a:fld id="{C81997D8-A71B-4DD8-9459-E297CA76FA90}" type="slidenum">
              <a:rPr lang="en-US" smtClean="0"/>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2E343A-72D0-4975-BFBE-4D0E860A058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A2E343A-72D0-4975-BFBE-4D0E860A058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6448" y="6422064"/>
            <a:ext cx="762000" cy="365125"/>
          </a:xfrm>
        </p:spPr>
        <p:txBody>
          <a:bodyPr/>
          <a:lstStyle/>
          <a:p>
            <a:fld id="{C81997D8-A71B-4DD8-9459-E297CA76FA9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a:xfrm>
            <a:off x="457200" y="6422064"/>
            <a:ext cx="2133600" cy="365125"/>
          </a:xfrm>
        </p:spPr>
        <p:txBody>
          <a:bodyPr/>
          <a:lstStyle/>
          <a:p>
            <a:fld id="{4A2E343A-72D0-4975-BFBE-4D0E860A058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A2E343A-72D0-4975-BFBE-4D0E860A058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A2E343A-72D0-4975-BFBE-4D0E860A058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1997D8-A71B-4DD8-9459-E297CA76FA9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reeform 11"/>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4A2E343A-72D0-4975-BFBE-4D0E860A0587}" type="datetimeFigureOut">
              <a:rPr lang="en-US" smtClean="0"/>
            </a:fld>
            <a:endParaRPr 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C81997D8-A71B-4DD8-9459-E297CA76FA90}"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370" indent="-384175" algn="l" rtl="0" eaLnBrk="1" latinLnBrk="0" hangingPunct="1">
        <a:spcBef>
          <a:spcPct val="20000"/>
        </a:spcBef>
        <a:buClr>
          <a:schemeClr val="accent1"/>
        </a:buClr>
        <a:buSzPct val="80000"/>
        <a:buFont typeface="Wingdings 2" panose="05020102010507070707"/>
        <a:buChar char=""/>
        <a:defRPr kumimoji="0" sz="3000" kern="1200">
          <a:solidFill>
            <a:schemeClr val="tx1"/>
          </a:solidFill>
          <a:latin typeface="+mn-lt"/>
          <a:ea typeface="+mn-ea"/>
          <a:cs typeface="+mn-cs"/>
        </a:defRPr>
      </a:lvl1pPr>
      <a:lvl2pPr marL="722630" indent="-274320" algn="l" rtl="0" eaLnBrk="1" latinLnBrk="0" hangingPunct="1">
        <a:spcBef>
          <a:spcPct val="20000"/>
        </a:spcBef>
        <a:buClr>
          <a:schemeClr val="accent1"/>
        </a:buClr>
        <a:buSzPct val="90000"/>
        <a:buFont typeface="Wingdings 2" panose="05020102010507070707"/>
        <a:buChar char=""/>
        <a:defRPr kumimoji="0" sz="2600" kern="1200">
          <a:solidFill>
            <a:schemeClr val="tx1"/>
          </a:solidFill>
          <a:latin typeface="+mn-lt"/>
          <a:ea typeface="+mn-ea"/>
          <a:cs typeface="+mn-cs"/>
        </a:defRPr>
      </a:lvl2pPr>
      <a:lvl3pPr marL="1005840" indent="-255905" algn="l" rtl="0" eaLnBrk="1" latinLnBrk="0" hangingPunct="1">
        <a:spcBef>
          <a:spcPct val="20000"/>
        </a:spcBef>
        <a:buClr>
          <a:schemeClr val="accent2"/>
        </a:buClr>
        <a:buSzPct val="85000"/>
        <a:buFont typeface="Arial" panose="020B0604020202020204"/>
        <a:buChar char="○"/>
        <a:defRPr kumimoji="0" sz="2400" kern="1200">
          <a:solidFill>
            <a:schemeClr val="tx1"/>
          </a:solidFill>
          <a:latin typeface="+mn-lt"/>
          <a:ea typeface="+mn-ea"/>
          <a:cs typeface="+mn-cs"/>
        </a:defRPr>
      </a:lvl3pPr>
      <a:lvl4pPr marL="1280160" indent="-237490" algn="l" rtl="0" eaLnBrk="1" latinLnBrk="0" hangingPunct="1">
        <a:spcBef>
          <a:spcPct val="20000"/>
        </a:spcBef>
        <a:buClr>
          <a:schemeClr val="accent3"/>
        </a:buClr>
        <a:buSzPct val="90000"/>
        <a:buFont typeface="Wingdings 2" panose="05020102010507070707"/>
        <a:buChar char=""/>
        <a:defRPr kumimoji="0" sz="2000" kern="1200">
          <a:solidFill>
            <a:schemeClr val="tx1"/>
          </a:solidFill>
          <a:latin typeface="+mn-lt"/>
          <a:ea typeface="+mn-ea"/>
          <a:cs typeface="+mn-cs"/>
        </a:defRPr>
      </a:lvl4pPr>
      <a:lvl5pPr marL="1490345" indent="-182880" algn="l" rtl="0" eaLnBrk="1" latinLnBrk="0" hangingPunct="1">
        <a:spcBef>
          <a:spcPct val="20000"/>
        </a:spcBef>
        <a:buClr>
          <a:schemeClr val="accent4"/>
        </a:buClr>
        <a:buSzPct val="100000"/>
        <a:buFont typeface="Arial" panose="020B0604020202020204"/>
        <a:buChar char="-"/>
        <a:defRPr kumimoji="0" sz="2000" kern="1200">
          <a:solidFill>
            <a:schemeClr val="tx1"/>
          </a:solidFill>
          <a:latin typeface="+mn-lt"/>
          <a:ea typeface="+mn-ea"/>
          <a:cs typeface="+mn-cs"/>
        </a:defRPr>
      </a:lvl5pPr>
      <a:lvl6pPr marL="1700530" indent="-182880" algn="l" rtl="0" eaLnBrk="1" latinLnBrk="0" hangingPunct="1">
        <a:spcBef>
          <a:spcPct val="20000"/>
        </a:spcBef>
        <a:buClr>
          <a:schemeClr val="accent5"/>
        </a:buClr>
        <a:buFont typeface="Arial" panose="020B0604020202020204"/>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panose="020B0604020202020204"/>
        <a:buChar char="•"/>
        <a:defRPr kumimoji="0" sz="1800" kern="1200" baseline="0">
          <a:solidFill>
            <a:schemeClr val="tx1"/>
          </a:solidFill>
          <a:latin typeface="+mn-lt"/>
          <a:ea typeface="+mn-ea"/>
          <a:cs typeface="+mn-cs"/>
        </a:defRPr>
      </a:lvl7pPr>
      <a:lvl8pPr marL="2139950" indent="-182880" algn="l" rtl="0" eaLnBrk="1" latinLnBrk="0" hangingPunct="1">
        <a:spcBef>
          <a:spcPct val="20000"/>
        </a:spcBef>
        <a:buClr>
          <a:schemeClr val="accent6"/>
        </a:buClr>
        <a:buFont typeface="Arial" panose="020B0604020202020204"/>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panose="020B0604020202020204"/>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371600"/>
            <a:ext cx="7167347" cy="923330"/>
          </a:xfrm>
          <a:prstGeom prst="rect">
            <a:avLst/>
          </a:prstGeom>
          <a:noFill/>
        </p:spPr>
        <p:txBody>
          <a:bodyPr wrap="none" lIns="91440" tIns="45720" rIns="91440" bIns="45720">
            <a:spAutoFit/>
          </a:bodyPr>
          <a:lstStyle/>
          <a:p>
            <a:pPr algn="ctr"/>
            <a:r>
              <a:rPr lang="en-US" sz="5400" b="1" cap="none"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CLOUD COMPUTING</a:t>
            </a:r>
            <a:endParaRPr lang="en-US" sz="54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
        <p:nvSpPr>
          <p:cNvPr id="4" name="Rectangle 3"/>
          <p:cNvSpPr/>
          <p:nvPr/>
        </p:nvSpPr>
        <p:spPr>
          <a:xfrm>
            <a:off x="6858000" y="4918710"/>
            <a:ext cx="2286000" cy="1642745"/>
          </a:xfrm>
          <a:prstGeom prst="rect">
            <a:avLst/>
          </a:prstGeom>
        </p:spPr>
        <p:txBody>
          <a:bodyPr>
            <a:noAutofit/>
          </a:bodyPr>
          <a:lstStyle/>
          <a:p>
            <a:pPr lvl="0" algn="ctr"/>
            <a:r>
              <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rPr>
              <a:t>MEGHANA</a:t>
            </a:r>
            <a:endPar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endParaRPr>
          </a:p>
          <a:p>
            <a:pPr lvl="0" algn="ctr"/>
            <a:r>
              <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sym typeface="+mn-ea"/>
              </a:rPr>
              <a:t>BHAVANI</a:t>
            </a:r>
            <a:endPar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endParaRPr>
          </a:p>
          <a:p>
            <a:pPr lvl="0" algn="ctr"/>
            <a:r>
              <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rPr>
              <a:t>PAVANI</a:t>
            </a:r>
            <a:endPar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endParaRPr>
          </a:p>
          <a:p>
            <a:pPr lvl="0" algn="ctr"/>
            <a:r>
              <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rPr>
              <a:t>LAHARI</a:t>
            </a:r>
            <a:endParaRPr lang="en-US" sz="2400" b="1" spc="50" dirty="0" smtClean="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endParaRPr>
          </a:p>
          <a:p>
            <a:pPr lvl="0" algn="ctr"/>
            <a:endParaRPr lang="en-US" sz="2400" b="1" spc="50" dirty="0">
              <a:ln w="12700" cmpd="sng">
                <a:solidFill>
                  <a:srgbClr val="7E848D">
                    <a:satMod val="120000"/>
                    <a:shade val="80000"/>
                  </a:srgbClr>
                </a:solidFill>
                <a:prstDash val="solid"/>
              </a:ln>
              <a:solidFill>
                <a:srgbClr val="7E848D">
                  <a:tint val="1000"/>
                </a:srgbClr>
              </a:solidFill>
              <a:effectLst>
                <a:glow rad="53100">
                  <a:srgbClr val="7E848D">
                    <a:satMod val="180000"/>
                    <a:alpha val="30000"/>
                  </a:srgbClr>
                </a:glow>
              </a:effectLst>
            </a:endParaRPr>
          </a:p>
        </p:txBody>
      </p:sp>
      <p:pic>
        <p:nvPicPr>
          <p:cNvPr id="5" name="Picture 4" descr="cloud-computing.png"/>
          <p:cNvPicPr>
            <a:picLocks noChangeAspect="1"/>
          </p:cNvPicPr>
          <p:nvPr/>
        </p:nvPicPr>
        <p:blipFill>
          <a:blip r:embed="rId1" cstate="print"/>
          <a:stretch>
            <a:fillRect/>
          </a:stretch>
        </p:blipFill>
        <p:spPr>
          <a:xfrm>
            <a:off x="0" y="2971801"/>
            <a:ext cx="5105400" cy="38862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2438400"/>
            <a:ext cx="7162800" cy="1569660"/>
          </a:xfrm>
          <a:prstGeom prst="rect">
            <a:avLst/>
          </a:prstGeom>
          <a:noFill/>
        </p:spPr>
        <p:txBody>
          <a:bodyPr wrap="square" rtlCol="0">
            <a:spAutoFit/>
          </a:bodyPr>
          <a:lstStyle/>
          <a:p>
            <a:r>
              <a:rPr lang="en-US" sz="3200" b="1" dirty="0" smtClean="0"/>
              <a:t>CRYPTOSYSTEM FOR SCALABLE   DATA SHARING IN CLOUD COMPUTING  </a:t>
            </a:r>
            <a:endParaRPr lang="en-IN" sz="32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791200"/>
          </a:xfrm>
        </p:spPr>
        <p:txBody>
          <a:bodyPr>
            <a:normAutofit fontScale="90000"/>
          </a:bodyPr>
          <a:lstStyle/>
          <a:p>
            <a:br>
              <a:rPr lang="en-US" b="1" dirty="0" smtClean="0"/>
            </a:br>
            <a:r>
              <a:rPr lang="en-US" b="1" dirty="0" smtClean="0"/>
              <a:t>                    ABSTRACT</a:t>
            </a:r>
            <a:br>
              <a:rPr lang="en-US" dirty="0" smtClean="0"/>
            </a:br>
            <a:br>
              <a:rPr lang="en-US" dirty="0" smtClean="0"/>
            </a:br>
            <a:r>
              <a:rPr lang="en-US" dirty="0" smtClean="0"/>
              <a:t>      </a:t>
            </a:r>
            <a:r>
              <a:rPr lang="en-US" sz="2000" dirty="0" smtClean="0"/>
              <a:t>Data security is the challenging issue in cloud computing paradigm where the user store sensitive information on cloud servers. Existing solutions generally use cryptographic methods like encryption and decryption. The biggest concerns with cloud data storage is that of  data integrity verification at un trusted server. To preserve the data   privacy, a basic solution is to encrypt data files, and then upload encrypted data into the cloud. For this it is proposed to have a public key CRYPTOSYSTEM for the storing and accessing for data in cloud. Now this system proposes to introduce variable size CRYPTOSYSTEM that is supported with a set of secret keys as a single keys and the process uses the power of the all the keys by using these compact aggregate key we encrypt files and storing cloud. This key is positive others who shares the data. By using this key others can share data in secured way.</a:t>
            </a:r>
            <a:br>
              <a:rPr lang="en-US" sz="2000" dirty="0" smtClean="0"/>
            </a:br>
            <a:br>
              <a:rPr lang="en-US" sz="2000" dirty="0" smtClean="0"/>
            </a:br>
            <a:br>
              <a:rPr lang="en-US" sz="1800" dirty="0" smtClean="0"/>
            </a:br>
            <a:br>
              <a:rPr lang="en-US" sz="1800" dirty="0" smtClean="0"/>
            </a:br>
            <a:r>
              <a:rPr lang="en-US" sz="1800" b="1" dirty="0" smtClean="0"/>
              <a:t>keywords:cryptosystem,integration,encrypt,decrypt,confidentiality</a:t>
            </a:r>
            <a:br>
              <a:rPr lang="en-US" sz="1800" dirty="0" smtClean="0"/>
            </a:br>
            <a:br>
              <a:rPr lang="en-US" sz="2000" dirty="0" smtClean="0"/>
            </a:b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loud.gif"/>
          <p:cNvPicPr>
            <a:picLocks noChangeAspect="1"/>
          </p:cNvPicPr>
          <p:nvPr/>
        </p:nvPicPr>
        <p:blipFill>
          <a:blip r:embed="rId1" cstate="print"/>
          <a:stretch>
            <a:fillRect/>
          </a:stretch>
        </p:blipFill>
        <p:spPr>
          <a:xfrm>
            <a:off x="228600" y="381001"/>
            <a:ext cx="8686800" cy="61722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761999"/>
          </a:xfrm>
        </p:spPr>
        <p:txBody>
          <a:bodyPr>
            <a:normAutofit fontScale="90000"/>
          </a:bodyPr>
          <a:lstStyle/>
          <a:p>
            <a:pPr algn="ctr"/>
            <a:r>
              <a:rPr lang="en-US" dirty="0" smtClean="0">
                <a:solidFill>
                  <a:schemeClr val="tx1"/>
                </a:solidFill>
                <a:effectLst/>
              </a:rPr>
              <a:t>MOTIVATION</a:t>
            </a:r>
            <a:endParaRPr lang="en-US" b="1" dirty="0">
              <a:solidFill>
                <a:schemeClr val="tx1"/>
              </a:solidFill>
              <a:effectLst/>
            </a:endParaRPr>
          </a:p>
        </p:txBody>
      </p:sp>
      <p:sp>
        <p:nvSpPr>
          <p:cNvPr id="3" name="Subtitle 2"/>
          <p:cNvSpPr>
            <a:spLocks noGrp="1"/>
          </p:cNvSpPr>
          <p:nvPr>
            <p:ph type="subTitle" idx="1"/>
          </p:nvPr>
        </p:nvSpPr>
        <p:spPr>
          <a:xfrm>
            <a:off x="533400" y="1447800"/>
            <a:ext cx="8458200" cy="4800600"/>
          </a:xfrm>
        </p:spPr>
        <p:txBody>
          <a:bodyPr>
            <a:normAutofit lnSpcReduction="10000"/>
          </a:bodyPr>
          <a:lstStyle/>
          <a:p>
            <a:pPr algn="l">
              <a:buFont typeface="Wingdings" panose="05000000000000000000" pitchFamily="2" charset="2"/>
              <a:buChar char="§"/>
            </a:pPr>
            <a:r>
              <a:rPr lang="en-US" sz="2400" dirty="0">
                <a:solidFill>
                  <a:schemeClr val="tx1"/>
                </a:solidFill>
              </a:rPr>
              <a:t>In entrusted storage data servers are not allowed to learn the content </a:t>
            </a:r>
            <a:r>
              <a:rPr lang="en-US" sz="2400" dirty="0" smtClean="0">
                <a:solidFill>
                  <a:schemeClr val="tx1"/>
                </a:solidFill>
              </a:rPr>
              <a:t>of sensitive </a:t>
            </a:r>
            <a:r>
              <a:rPr lang="en-US" sz="2400" dirty="0">
                <a:solidFill>
                  <a:schemeClr val="tx1"/>
                </a:solidFill>
              </a:rPr>
              <a:t>data and also they are not relayed on to enforce data access policies to keep </a:t>
            </a:r>
            <a:r>
              <a:rPr lang="en-US" sz="2400" dirty="0" smtClean="0">
                <a:solidFill>
                  <a:schemeClr val="tx1"/>
                </a:solidFill>
              </a:rPr>
              <a:t>data confidential </a:t>
            </a:r>
            <a:r>
              <a:rPr lang="en-US" sz="2400" dirty="0">
                <a:solidFill>
                  <a:schemeClr val="tx1"/>
                </a:solidFill>
              </a:rPr>
              <a:t>to data servers the data owner encrypt the data before upload user access </a:t>
            </a:r>
            <a:r>
              <a:rPr lang="en-US" sz="2400" dirty="0" smtClean="0">
                <a:solidFill>
                  <a:schemeClr val="tx1"/>
                </a:solidFill>
              </a:rPr>
              <a:t>is granted </a:t>
            </a:r>
            <a:r>
              <a:rPr lang="en-US" sz="2400" dirty="0">
                <a:solidFill>
                  <a:schemeClr val="tx1"/>
                </a:solidFill>
              </a:rPr>
              <a:t>by possessing the data decryption </a:t>
            </a:r>
            <a:r>
              <a:rPr lang="en-US" sz="2400" dirty="0" smtClean="0">
                <a:solidFill>
                  <a:schemeClr val="tx1"/>
                </a:solidFill>
              </a:rPr>
              <a:t>keys.</a:t>
            </a:r>
            <a:endParaRPr lang="en-US" sz="2400" dirty="0" smtClean="0">
              <a:solidFill>
                <a:schemeClr val="tx1"/>
              </a:solidFill>
            </a:endParaRPr>
          </a:p>
          <a:p>
            <a:pPr algn="just">
              <a:buFont typeface="Wingdings" panose="05000000000000000000" pitchFamily="2" charset="2"/>
              <a:buChar char="§"/>
            </a:pPr>
            <a:r>
              <a:rPr lang="en-US" sz="2400" dirty="0" smtClean="0">
                <a:solidFill>
                  <a:schemeClr val="tx1"/>
                </a:solidFill>
              </a:rPr>
              <a:t>A </a:t>
            </a:r>
            <a:r>
              <a:rPr lang="en-US" sz="2400" dirty="0">
                <a:solidFill>
                  <a:schemeClr val="tx1"/>
                </a:solidFill>
              </a:rPr>
              <a:t>promising solution to multicast encryption is predicate based </a:t>
            </a:r>
            <a:r>
              <a:rPr lang="en-US" sz="2400" dirty="0" smtClean="0">
                <a:solidFill>
                  <a:schemeClr val="tx1"/>
                </a:solidFill>
              </a:rPr>
              <a:t>encryption(PBE</a:t>
            </a:r>
            <a:r>
              <a:rPr lang="en-US" sz="2400" dirty="0">
                <a:solidFill>
                  <a:schemeClr val="tx1"/>
                </a:solidFill>
              </a:rPr>
              <a:t>).It is a novel encryption technique in which decryption of cipher text depends on set </a:t>
            </a:r>
            <a:r>
              <a:rPr lang="en-US" sz="2400" dirty="0" smtClean="0">
                <a:solidFill>
                  <a:schemeClr val="tx1"/>
                </a:solidFill>
              </a:rPr>
              <a:t>of attributes </a:t>
            </a:r>
            <a:r>
              <a:rPr lang="en-US" sz="2400" dirty="0">
                <a:solidFill>
                  <a:schemeClr val="tx1"/>
                </a:solidFill>
              </a:rPr>
              <a:t>that satisfies a predicate</a:t>
            </a:r>
            <a:r>
              <a:rPr lang="en-US" sz="2400" dirty="0" smtClean="0">
                <a:solidFill>
                  <a:schemeClr val="tx1"/>
                </a:solidFill>
              </a:rPr>
              <a:t>.</a:t>
            </a:r>
            <a:endParaRPr lang="en-US" sz="2400" dirty="0" smtClean="0">
              <a:solidFill>
                <a:schemeClr val="tx1"/>
              </a:solidFill>
            </a:endParaRPr>
          </a:p>
          <a:p>
            <a:pPr algn="just">
              <a:buFont typeface="Wingdings" panose="05000000000000000000" pitchFamily="2" charset="2"/>
              <a:buChar char="§"/>
            </a:pPr>
            <a:r>
              <a:rPr lang="en-US" sz="2400" dirty="0">
                <a:solidFill>
                  <a:schemeClr val="tx1"/>
                </a:solidFill>
              </a:rPr>
              <a:t> The generalization of attribute based encryption (</a:t>
            </a:r>
            <a:r>
              <a:rPr lang="en-US" sz="2400" dirty="0" smtClean="0">
                <a:solidFill>
                  <a:schemeClr val="tx1"/>
                </a:solidFill>
              </a:rPr>
              <a:t>ABE)and </a:t>
            </a:r>
            <a:r>
              <a:rPr lang="en-US" sz="2400" dirty="0">
                <a:solidFill>
                  <a:schemeClr val="tx1"/>
                </a:solidFill>
              </a:rPr>
              <a:t>identity based encryption (IBE) is nothing but PBE when this kind of </a:t>
            </a:r>
            <a:r>
              <a:rPr lang="en-US" sz="2400" dirty="0" smtClean="0">
                <a:solidFill>
                  <a:schemeClr val="tx1"/>
                </a:solidFill>
              </a:rPr>
              <a:t>cryptography based access </a:t>
            </a:r>
            <a:r>
              <a:rPr lang="en-US" sz="2400" dirty="0">
                <a:solidFill>
                  <a:schemeClr val="tx1"/>
                </a:solidFill>
              </a:rPr>
              <a:t>control scheme provides data </a:t>
            </a:r>
            <a:r>
              <a:rPr lang="en-US" sz="2400" dirty="0" smtClean="0">
                <a:solidFill>
                  <a:schemeClr val="tx1"/>
                </a:solidFill>
              </a:rPr>
              <a:t>protection.</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200"/>
          </a:xfrm>
        </p:spPr>
        <p:txBody>
          <a:bodyPr>
            <a:normAutofit/>
          </a:bodyPr>
          <a:lstStyle/>
          <a:p>
            <a:pPr algn="ctr"/>
            <a:r>
              <a:rPr lang="en-US" b="1" dirty="0" smtClean="0"/>
              <a:t>PROBLEM STATEMENT</a:t>
            </a:r>
            <a:endParaRPr lang="en-US" b="1" dirty="0"/>
          </a:p>
        </p:txBody>
      </p:sp>
      <p:sp>
        <p:nvSpPr>
          <p:cNvPr id="3" name="Subtitle 2"/>
          <p:cNvSpPr>
            <a:spLocks noGrp="1"/>
          </p:cNvSpPr>
          <p:nvPr>
            <p:ph type="subTitle" idx="1"/>
          </p:nvPr>
        </p:nvSpPr>
        <p:spPr>
          <a:xfrm>
            <a:off x="457200" y="1295400"/>
            <a:ext cx="8382000" cy="3581400"/>
          </a:xfrm>
        </p:spPr>
        <p:txBody>
          <a:bodyPr>
            <a:normAutofit/>
          </a:bodyPr>
          <a:lstStyle/>
          <a:p>
            <a:pPr algn="just">
              <a:buFont typeface="Arial" panose="020B0604020202020204" pitchFamily="34" charset="0"/>
              <a:buChar char="•"/>
            </a:pPr>
            <a:r>
              <a:rPr lang="en-US" sz="2000" dirty="0">
                <a:solidFill>
                  <a:schemeClr val="tx1"/>
                </a:solidFill>
              </a:rPr>
              <a:t>The problem aims to detect and identity issues and challenges in providing </a:t>
            </a:r>
            <a:r>
              <a:rPr lang="en-US" sz="2000" dirty="0" smtClean="0">
                <a:solidFill>
                  <a:schemeClr val="tx1"/>
                </a:solidFill>
              </a:rPr>
              <a:t>data protection </a:t>
            </a:r>
            <a:r>
              <a:rPr lang="en-US" sz="2000" dirty="0">
                <a:solidFill>
                  <a:schemeClr val="tx1"/>
                </a:solidFill>
              </a:rPr>
              <a:t>and secured data access in cloud storage service and eliminate them with </a:t>
            </a:r>
            <a:r>
              <a:rPr lang="en-US" sz="2000" dirty="0" smtClean="0">
                <a:solidFill>
                  <a:schemeClr val="tx1"/>
                </a:solidFill>
              </a:rPr>
              <a:t>a promising </a:t>
            </a:r>
            <a:r>
              <a:rPr lang="en-US" sz="2000" dirty="0">
                <a:solidFill>
                  <a:schemeClr val="tx1"/>
                </a:solidFill>
              </a:rPr>
              <a:t>cryptography solution </a:t>
            </a:r>
            <a:endParaRPr lang="en-US" sz="2000" dirty="0" smtClean="0">
              <a:solidFill>
                <a:schemeClr val="tx1"/>
              </a:solidFill>
            </a:endParaRPr>
          </a:p>
          <a:p>
            <a:pPr algn="just">
              <a:buFont typeface="Wingdings" panose="05000000000000000000" pitchFamily="2" charset="2"/>
              <a:buChar char="§"/>
            </a:pPr>
            <a:endParaRPr lang="en-US" sz="2000" dirty="0" smtClean="0">
              <a:solidFill>
                <a:schemeClr val="tx1"/>
              </a:solidFill>
            </a:endParaRPr>
          </a:p>
          <a:p>
            <a:pPr algn="just">
              <a:buFont typeface="Wingdings" panose="05000000000000000000" pitchFamily="2" charset="2"/>
              <a:buChar char="§"/>
            </a:pPr>
            <a:r>
              <a:rPr lang="en-US" sz="2000" dirty="0" smtClean="0">
                <a:solidFill>
                  <a:schemeClr val="tx1"/>
                </a:solidFill>
              </a:rPr>
              <a:t>In </a:t>
            </a:r>
            <a:r>
              <a:rPr lang="en-US" sz="2000" dirty="0">
                <a:solidFill>
                  <a:schemeClr val="tx1"/>
                </a:solidFill>
              </a:rPr>
              <a:t>existing environment the data production and </a:t>
            </a:r>
            <a:r>
              <a:rPr lang="en-US" sz="2000" dirty="0" smtClean="0">
                <a:solidFill>
                  <a:schemeClr val="tx1"/>
                </a:solidFill>
              </a:rPr>
              <a:t>accessing is </a:t>
            </a:r>
            <a:r>
              <a:rPr lang="en-US" sz="2000" dirty="0">
                <a:solidFill>
                  <a:schemeClr val="tx1"/>
                </a:solidFill>
              </a:rPr>
              <a:t>implemented in cloud storage service by using ABE scheme based encryption </a:t>
            </a:r>
            <a:r>
              <a:rPr lang="en-US" sz="2000" dirty="0" smtClean="0">
                <a:solidFill>
                  <a:schemeClr val="tx1"/>
                </a:solidFill>
              </a:rPr>
              <a:t>&amp;decryption.</a:t>
            </a:r>
            <a:endParaRPr lang="en-US" sz="2000" dirty="0" smtClean="0">
              <a:solidFill>
                <a:schemeClr val="tx1"/>
              </a:solidFill>
            </a:endParaRPr>
          </a:p>
          <a:p>
            <a:pPr algn="just"/>
            <a:endParaRPr lang="en-US" sz="2000" dirty="0" smtClean="0">
              <a:solidFill>
                <a:schemeClr val="tx1"/>
              </a:solidFill>
            </a:endParaRPr>
          </a:p>
          <a:p>
            <a:pPr algn="just">
              <a:buFont typeface="Wingdings" panose="05000000000000000000" pitchFamily="2" charset="2"/>
              <a:buChar char="§"/>
            </a:pPr>
            <a:r>
              <a:rPr lang="en-US" sz="2000" dirty="0">
                <a:solidFill>
                  <a:schemeClr val="tx1"/>
                </a:solidFill>
              </a:rPr>
              <a:t> O</a:t>
            </a:r>
            <a:r>
              <a:rPr lang="en-US" sz="2000" dirty="0" smtClean="0">
                <a:solidFill>
                  <a:schemeClr val="tx1"/>
                </a:solidFill>
              </a:rPr>
              <a:t>ur </a:t>
            </a:r>
            <a:r>
              <a:rPr lang="en-US" sz="2000" dirty="0">
                <a:solidFill>
                  <a:schemeClr val="tx1"/>
                </a:solidFill>
              </a:rPr>
              <a:t>study identify a multicast encryption scheme is required to resolve </a:t>
            </a:r>
            <a:r>
              <a:rPr lang="en-US" sz="2000" dirty="0" err="1" smtClean="0">
                <a:solidFill>
                  <a:schemeClr val="tx1"/>
                </a:solidFill>
              </a:rPr>
              <a:t>thIs</a:t>
            </a:r>
            <a:r>
              <a:rPr lang="en-US" sz="2000" dirty="0" smtClean="0">
                <a:solidFill>
                  <a:schemeClr val="tx1"/>
                </a:solidFill>
              </a:rPr>
              <a:t> problem </a:t>
            </a:r>
            <a:r>
              <a:rPr lang="en-US" sz="2000" dirty="0">
                <a:solidFill>
                  <a:schemeClr val="tx1"/>
                </a:solidFill>
              </a:rPr>
              <a:t>and which is predicated based encryption (PBE)</a:t>
            </a:r>
            <a:endParaRPr lang="en-US" sz="2000" dirty="0">
              <a:solidFill>
                <a:schemeClr val="tx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477000"/>
          </a:xfrm>
        </p:spPr>
        <p:txBody>
          <a:bodyPr>
            <a:normAutofit fontScale="90000"/>
          </a:bodyPr>
          <a:lstStyle/>
          <a:p>
            <a:pPr algn="l">
              <a:buFont typeface="Arial" panose="020B0604020202020204" pitchFamily="34" charset="0"/>
              <a:buChar char="•"/>
            </a:pPr>
            <a:br>
              <a:rPr lang="en-US" sz="2400" dirty="0"/>
            </a:br>
            <a:br>
              <a:rPr lang="en-US" sz="2400" dirty="0" smtClean="0"/>
            </a:br>
            <a:br>
              <a:rPr lang="en-US" sz="2400" dirty="0" smtClean="0"/>
            </a:br>
            <a:r>
              <a:rPr lang="en-US" sz="2400" dirty="0" smtClean="0"/>
              <a:t>                             </a:t>
            </a:r>
            <a:r>
              <a:rPr lang="en-US" sz="4000" b="1" dirty="0" smtClean="0"/>
              <a:t>LITERATURE REVIEW</a:t>
            </a:r>
            <a:br>
              <a:rPr lang="en-US" sz="2400" dirty="0" smtClean="0"/>
            </a:br>
            <a:r>
              <a:rPr lang="en-US" sz="2400" dirty="0" smtClean="0"/>
              <a:t>Cloud </a:t>
            </a:r>
            <a:r>
              <a:rPr lang="en-US" sz="2400" dirty="0"/>
              <a:t>computing is widely developed technology, remotely to be </a:t>
            </a:r>
            <a:r>
              <a:rPr lang="en-US" sz="2400" dirty="0" smtClean="0"/>
              <a:t>temporarily shared </a:t>
            </a:r>
            <a:r>
              <a:rPr lang="en-US" sz="2400" dirty="0"/>
              <a:t>across multiple users in flexible </a:t>
            </a:r>
            <a:r>
              <a:rPr lang="en-US" sz="2400" dirty="0" smtClean="0"/>
              <a:t>manner than products. So </a:t>
            </a:r>
            <a:r>
              <a:rPr lang="en-US" sz="2400" dirty="0"/>
              <a:t>cloud creates issues in data security, </a:t>
            </a:r>
            <a:r>
              <a:rPr lang="en-US" sz="2400" dirty="0" smtClean="0"/>
              <a:t>privacy integrity , and dynamic  updates</a:t>
            </a:r>
            <a:r>
              <a:rPr lang="en-US" sz="2400" dirty="0"/>
              <a:t>. </a:t>
            </a:r>
            <a:br>
              <a:rPr lang="en-US" sz="2400" dirty="0" smtClean="0"/>
            </a:br>
            <a:br>
              <a:rPr lang="en-US" sz="2400" dirty="0"/>
            </a:br>
            <a:r>
              <a:rPr lang="en-US" sz="2400" dirty="0" smtClean="0"/>
              <a:t>This </a:t>
            </a:r>
            <a:r>
              <a:rPr lang="en-US" sz="2400" dirty="0"/>
              <a:t>problem is solving by public auditing method, which ensure</a:t>
            </a:r>
            <a:br>
              <a:rPr lang="en-US" sz="2400" dirty="0"/>
            </a:br>
            <a:r>
              <a:rPr lang="en-US" sz="2400" dirty="0"/>
              <a:t>integrity and to reduce online burden on cloud data storage. So user may resort to </a:t>
            </a:r>
            <a:r>
              <a:rPr lang="en-US" sz="2400" dirty="0" smtClean="0"/>
              <a:t>third party auditor </a:t>
            </a:r>
            <a:r>
              <a:rPr lang="en-US" sz="2400" dirty="0"/>
              <a:t>(TPA) to audit the data by using ring </a:t>
            </a:r>
            <a:r>
              <a:rPr lang="en-US" sz="2400" dirty="0" smtClean="0"/>
              <a:t>signatures.</a:t>
            </a:r>
            <a:br>
              <a:rPr lang="en-US" sz="2400" dirty="0" smtClean="0"/>
            </a:br>
            <a:br>
              <a:rPr lang="en-US" sz="2400" dirty="0" smtClean="0"/>
            </a:br>
            <a:r>
              <a:rPr lang="en-US" sz="2400" dirty="0" smtClean="0"/>
              <a:t>The </a:t>
            </a:r>
            <a:r>
              <a:rPr lang="en-US" sz="2400" dirty="0"/>
              <a:t>privacy </a:t>
            </a:r>
            <a:r>
              <a:rPr lang="en-US" sz="2400" dirty="0" smtClean="0"/>
              <a:t>preserving identity </a:t>
            </a:r>
            <a:r>
              <a:rPr lang="en-US" sz="2400" dirty="0"/>
              <a:t>of the signer on each block from the TPA means, the group is pre-defined </a:t>
            </a:r>
            <a:r>
              <a:rPr lang="en-US" sz="2400" dirty="0" smtClean="0"/>
              <a:t>before shared </a:t>
            </a:r>
            <a:r>
              <a:rPr lang="en-US" sz="2400" dirty="0"/>
              <a:t>data is created in the cloud .The membership of each users in the group is </a:t>
            </a:r>
            <a:r>
              <a:rPr lang="en-US" sz="2400" dirty="0" smtClean="0"/>
              <a:t>not changed </a:t>
            </a:r>
            <a:r>
              <a:rPr lang="en-US" sz="2400" dirty="0"/>
              <a:t>during the data sharing stage. </a:t>
            </a:r>
            <a:br>
              <a:rPr lang="en-US" sz="2400" dirty="0" smtClean="0"/>
            </a:br>
            <a:br>
              <a:rPr lang="en-US" sz="2400" dirty="0" smtClean="0"/>
            </a:br>
            <a:r>
              <a:rPr lang="en-US" sz="2400" dirty="0" smtClean="0"/>
              <a:t>The </a:t>
            </a:r>
            <a:r>
              <a:rPr lang="en-US" sz="2400" dirty="0"/>
              <a:t>original user is responsible for who is able </a:t>
            </a:r>
            <a:r>
              <a:rPr lang="en-US" sz="2400" dirty="0" smtClean="0"/>
              <a:t>to share </a:t>
            </a:r>
            <a:r>
              <a:rPr lang="en-US" sz="2400" dirty="0"/>
              <a:t>her data before outsourcing data to the cloud.</a:t>
            </a:r>
            <a:br>
              <a:rPr lang="en-US" sz="2400" dirty="0" smtClean="0"/>
            </a:br>
            <a:br>
              <a:rPr lang="en-US" sz="2400" dirty="0" smtClean="0"/>
            </a:b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304799"/>
          <a:ext cx="8610600" cy="6324600"/>
        </p:xfrm>
        <a:graphic>
          <a:graphicData uri="http://schemas.openxmlformats.org/drawingml/2006/table">
            <a:tbl>
              <a:tblPr firstRow="1" bandRow="1">
                <a:tableStyleId>{5940675A-B579-460E-94D1-54222C63F5DA}</a:tableStyleId>
              </a:tblPr>
              <a:tblGrid>
                <a:gridCol w="2743200"/>
                <a:gridCol w="2590800"/>
                <a:gridCol w="3276600"/>
              </a:tblGrid>
              <a:tr h="1203960">
                <a:tc>
                  <a:txBody>
                    <a:bodyPr/>
                    <a:lstStyle/>
                    <a:p>
                      <a:r>
                        <a:rPr lang="en-US" b="1" dirty="0" smtClean="0"/>
                        <a:t>NAME</a:t>
                      </a:r>
                      <a:r>
                        <a:rPr lang="en-US" b="1" baseline="0" dirty="0" smtClean="0"/>
                        <a:t> OF THE METHOD</a:t>
                      </a:r>
                      <a:endParaRPr lang="en-US" b="1" dirty="0"/>
                    </a:p>
                  </a:txBody>
                  <a:tcPr/>
                </a:tc>
                <a:tc>
                  <a:txBody>
                    <a:bodyPr/>
                    <a:lstStyle/>
                    <a:p>
                      <a:r>
                        <a:rPr lang="en-US" b="1" dirty="0" smtClean="0"/>
                        <a:t>AUTHOR</a:t>
                      </a:r>
                      <a:endParaRPr lang="en-US" b="1" dirty="0"/>
                    </a:p>
                  </a:txBody>
                  <a:tcPr/>
                </a:tc>
                <a:tc>
                  <a:txBody>
                    <a:bodyPr/>
                    <a:lstStyle/>
                    <a:p>
                      <a:r>
                        <a:rPr lang="en-US" b="1" dirty="0" smtClean="0"/>
                        <a:t>TECHNIQUE</a:t>
                      </a:r>
                      <a:endParaRPr lang="en-US" b="1" dirty="0"/>
                    </a:p>
                  </a:txBody>
                  <a:tcPr/>
                </a:tc>
              </a:tr>
              <a:tr h="1280160">
                <a:tc>
                  <a:txBody>
                    <a:bodyPr/>
                    <a:lstStyle/>
                    <a:p>
                      <a:r>
                        <a:rPr lang="en-US" dirty="0" smtClean="0"/>
                        <a:t>PRESERVING PRIVACY</a:t>
                      </a:r>
                      <a:r>
                        <a:rPr lang="en-US" baseline="0" dirty="0" smtClean="0"/>
                        <a:t> POLICY</a:t>
                      </a:r>
                      <a:endParaRPr lang="en-US" dirty="0"/>
                    </a:p>
                  </a:txBody>
                  <a:tcPr/>
                </a:tc>
                <a:tc>
                  <a:txBody>
                    <a:bodyPr/>
                    <a:lstStyle/>
                    <a:p>
                      <a:r>
                        <a:rPr lang="en-US" dirty="0" smtClean="0"/>
                        <a:t>KRISHNA KUMAR L1,</a:t>
                      </a:r>
                      <a:endParaRPr lang="en-US" dirty="0" smtClean="0"/>
                    </a:p>
                    <a:p>
                      <a:r>
                        <a:rPr lang="en-US" dirty="0" smtClean="0"/>
                        <a:t>DEEPA P SIVAN</a:t>
                      </a:r>
                      <a:endParaRPr lang="en-US" dirty="0"/>
                    </a:p>
                  </a:txBody>
                  <a:tcPr/>
                </a:tc>
                <a:tc>
                  <a:txBody>
                    <a:bodyPr/>
                    <a:lstStyle/>
                    <a:p>
                      <a:r>
                        <a:rPr lang="en-US" dirty="0" smtClean="0"/>
                        <a:t>PUBLIC AUDITING </a:t>
                      </a:r>
                      <a:endParaRPr lang="en-US" dirty="0"/>
                    </a:p>
                  </a:txBody>
                  <a:tcPr/>
                </a:tc>
              </a:tr>
              <a:tr h="1280160">
                <a:tc>
                  <a:txBody>
                    <a:bodyPr/>
                    <a:lstStyle/>
                    <a:p>
                      <a:r>
                        <a:rPr lang="en-US" dirty="0" smtClean="0"/>
                        <a:t>AGGREGATE AND VERIFIABILITY ENCRYPTION</a:t>
                      </a:r>
                      <a:endParaRPr lang="en-US" dirty="0"/>
                    </a:p>
                  </a:txBody>
                  <a:tcPr/>
                </a:tc>
                <a:tc>
                  <a:txBody>
                    <a:bodyPr/>
                    <a:lstStyle/>
                    <a:p>
                      <a:r>
                        <a:rPr lang="en-US" dirty="0" smtClean="0"/>
                        <a:t>DAN BONEH,</a:t>
                      </a:r>
                      <a:endParaRPr lang="en-US" dirty="0" smtClean="0"/>
                    </a:p>
                    <a:p>
                      <a:r>
                        <a:rPr lang="en-US" dirty="0" smtClean="0"/>
                        <a:t>CRAIG GENTRY</a:t>
                      </a:r>
                      <a:endParaRPr lang="en-US" dirty="0"/>
                    </a:p>
                  </a:txBody>
                  <a:tcPr/>
                </a:tc>
                <a:tc>
                  <a:txBody>
                    <a:bodyPr/>
                    <a:lstStyle/>
                    <a:p>
                      <a:r>
                        <a:rPr lang="en-US" dirty="0" smtClean="0"/>
                        <a:t>BILINEAR MAPS</a:t>
                      </a:r>
                      <a:endParaRPr lang="en-US" dirty="0"/>
                    </a:p>
                  </a:txBody>
                  <a:tcPr/>
                </a:tc>
              </a:tr>
              <a:tr h="1280160">
                <a:tc>
                  <a:txBody>
                    <a:bodyPr/>
                    <a:lstStyle/>
                    <a:p>
                      <a:r>
                        <a:rPr lang="en-US" dirty="0" smtClean="0"/>
                        <a:t>DYNAMIC AND EFFICIENT KEY MANAGEMENT FOR</a:t>
                      </a:r>
                      <a:endParaRPr lang="en-US" dirty="0" smtClean="0"/>
                    </a:p>
                    <a:p>
                      <a:r>
                        <a:rPr lang="en-US" dirty="0" smtClean="0"/>
                        <a:t>ACCESS HIERACHIES</a:t>
                      </a:r>
                      <a:endParaRPr lang="en-US" dirty="0"/>
                    </a:p>
                  </a:txBody>
                  <a:tcPr/>
                </a:tc>
                <a:tc>
                  <a:txBody>
                    <a:bodyPr/>
                    <a:lstStyle/>
                    <a:p>
                      <a:r>
                        <a:rPr lang="en-US" dirty="0" smtClean="0"/>
                        <a:t>MIKHAIL J ATALLAH,</a:t>
                      </a:r>
                      <a:endParaRPr lang="en-US" dirty="0" smtClean="0"/>
                    </a:p>
                    <a:p>
                      <a:r>
                        <a:rPr lang="en-US" dirty="0" smtClean="0"/>
                        <a:t>KEITH B FRIKKEN,</a:t>
                      </a:r>
                      <a:endParaRPr lang="en-US" dirty="0" smtClean="0"/>
                    </a:p>
                    <a:p>
                      <a:r>
                        <a:rPr lang="en-US" dirty="0" smtClean="0"/>
                        <a:t>MARINA BLANTON</a:t>
                      </a:r>
                      <a:endParaRPr lang="en-US" dirty="0"/>
                    </a:p>
                  </a:txBody>
                  <a:tcPr/>
                </a:tc>
                <a:tc>
                  <a:txBody>
                    <a:bodyPr/>
                    <a:lstStyle/>
                    <a:p>
                      <a:r>
                        <a:rPr lang="en-US" dirty="0" smtClean="0"/>
                        <a:t>KEY DERIVATION</a:t>
                      </a:r>
                      <a:endParaRPr lang="en-US" dirty="0"/>
                    </a:p>
                  </a:txBody>
                  <a:tcPr/>
                </a:tc>
              </a:tr>
              <a:tr h="1280160">
                <a:tc>
                  <a:txBody>
                    <a:bodyPr/>
                    <a:lstStyle/>
                    <a:p>
                      <a:r>
                        <a:rPr lang="en-US" dirty="0" smtClean="0"/>
                        <a:t>PATIENT CONTROLLED ENCRYPTION</a:t>
                      </a:r>
                      <a:endParaRPr lang="en-US" dirty="0"/>
                    </a:p>
                  </a:txBody>
                  <a:tcPr/>
                </a:tc>
                <a:tc>
                  <a:txBody>
                    <a:bodyPr/>
                    <a:lstStyle/>
                    <a:p>
                      <a:r>
                        <a:rPr lang="en-US" dirty="0" smtClean="0"/>
                        <a:t>JOSH BEEFALO,</a:t>
                      </a:r>
                      <a:endParaRPr lang="en-US" dirty="0" smtClean="0"/>
                    </a:p>
                    <a:p>
                      <a:r>
                        <a:rPr lang="en-US" dirty="0" smtClean="0"/>
                        <a:t>MELISSA CHASE,</a:t>
                      </a:r>
                      <a:endParaRPr lang="en-US" dirty="0" smtClean="0"/>
                    </a:p>
                    <a:p>
                      <a:r>
                        <a:rPr lang="en-US" dirty="0" smtClean="0"/>
                        <a:t>ERIC HORVITZ,</a:t>
                      </a:r>
                      <a:endParaRPr lang="en-US" dirty="0" smtClean="0"/>
                    </a:p>
                    <a:p>
                      <a:r>
                        <a:rPr lang="en-US" dirty="0" smtClean="0"/>
                        <a:t>KRISTEN LAUTER</a:t>
                      </a:r>
                      <a:endParaRPr lang="en-US" dirty="0"/>
                    </a:p>
                  </a:txBody>
                  <a:tcPr/>
                </a:tc>
                <a:tc>
                  <a:txBody>
                    <a:bodyPr/>
                    <a:lstStyle/>
                    <a:p>
                      <a:r>
                        <a:rPr lang="en-US" dirty="0" smtClean="0"/>
                        <a:t>CRYPTOGRAPHIC PRIMITIVES</a:t>
                      </a:r>
                      <a:endParaRPr lang="en-US"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fontScale="90000"/>
          </a:bodyPr>
          <a:lstStyle/>
          <a:p>
            <a:pPr algn="l"/>
            <a:r>
              <a:rPr lang="en-US" sz="2400" b="1" dirty="0" smtClean="0"/>
              <a:t>     AGGREGATE AND VERIFIABLY ENCTYPTED SIGNATURES</a:t>
            </a:r>
            <a:br>
              <a:rPr lang="en-US" sz="2400" dirty="0" smtClean="0"/>
            </a:br>
            <a:br>
              <a:rPr lang="en-US" sz="2400" dirty="0" smtClean="0"/>
            </a:br>
            <a:r>
              <a:rPr lang="en-US" sz="2400" dirty="0" smtClean="0"/>
              <a:t>Given </a:t>
            </a:r>
            <a:r>
              <a:rPr lang="en-US" sz="2400" dirty="0"/>
              <a:t>n Signatures on n distinct messages from n distinct users, </a:t>
            </a:r>
            <a:r>
              <a:rPr lang="en-US" sz="2400" dirty="0" smtClean="0"/>
              <a:t>it is </a:t>
            </a:r>
            <a:r>
              <a:rPr lang="en-US" sz="2400" dirty="0"/>
              <a:t>possible to </a:t>
            </a:r>
            <a:r>
              <a:rPr lang="en-US" sz="2400" dirty="0" smtClean="0"/>
              <a:t>aggregate all </a:t>
            </a:r>
            <a:r>
              <a:rPr lang="en-US" sz="2400" dirty="0"/>
              <a:t>these signatures into a single short </a:t>
            </a:r>
            <a:r>
              <a:rPr lang="en-US" sz="2400" dirty="0" smtClean="0"/>
              <a:t>signature. This </a:t>
            </a:r>
            <a:r>
              <a:rPr lang="en-US" sz="2400" dirty="0"/>
              <a:t>single signature (and the n </a:t>
            </a:r>
            <a:r>
              <a:rPr lang="en-US" sz="2400" dirty="0" smtClean="0"/>
              <a:t>original messages</a:t>
            </a:r>
            <a:r>
              <a:rPr lang="en-US" sz="2400" dirty="0"/>
              <a:t>) will convince the verifier that the n users did indeed sign the n original </a:t>
            </a:r>
            <a:r>
              <a:rPr lang="en-US" sz="2400" dirty="0" smtClean="0"/>
              <a:t>messages (i.e</a:t>
            </a:r>
            <a:r>
              <a:rPr lang="en-US" sz="2400" dirty="0"/>
              <a:t>., user I signed message Mi for </a:t>
            </a:r>
            <a:r>
              <a:rPr lang="en-US" sz="2400" dirty="0" err="1"/>
              <a:t>i</a:t>
            </a:r>
            <a:r>
              <a:rPr lang="en-US" sz="2400" dirty="0"/>
              <a:t> = 1; : : : ; n</a:t>
            </a:r>
            <a:r>
              <a:rPr lang="en-US" sz="2400" dirty="0" smtClean="0"/>
              <a:t>).</a:t>
            </a:r>
            <a:br>
              <a:rPr lang="en-US" sz="2400" dirty="0" smtClean="0"/>
            </a:br>
            <a:br>
              <a:rPr lang="en-US" sz="2400" dirty="0"/>
            </a:br>
            <a:r>
              <a:rPr lang="en-US" sz="2400" dirty="0"/>
              <a:t>Aggregate signatures are useful for reducing the size of certificate chains (by aggregating </a:t>
            </a:r>
            <a:r>
              <a:rPr lang="en-US" sz="2400" dirty="0" smtClean="0"/>
              <a:t>all signatures </a:t>
            </a:r>
            <a:r>
              <a:rPr lang="en-US" sz="2400" dirty="0"/>
              <a:t>in the chain) and for reducing message size in secure routing protocols such </a:t>
            </a:r>
            <a:r>
              <a:rPr lang="en-US" sz="2400" dirty="0" smtClean="0"/>
              <a:t>as SBGP.</a:t>
            </a:r>
            <a:br>
              <a:rPr lang="en-US" sz="2400" dirty="0" smtClean="0"/>
            </a:br>
            <a:br>
              <a:rPr lang="en-US" sz="2400" dirty="0" smtClean="0"/>
            </a:br>
            <a:r>
              <a:rPr lang="en-US" sz="2400" dirty="0"/>
              <a:t>A</a:t>
            </a:r>
            <a:r>
              <a:rPr lang="en-US" sz="2400" dirty="0" smtClean="0"/>
              <a:t>ggregate </a:t>
            </a:r>
            <a:r>
              <a:rPr lang="en-US" sz="2400" dirty="0"/>
              <a:t>signatures give rise to verifiably </a:t>
            </a:r>
            <a:r>
              <a:rPr lang="en-US" sz="2400" dirty="0" smtClean="0"/>
              <a:t>encrypted signatures</a:t>
            </a:r>
            <a:r>
              <a:rPr lang="en-US" sz="2400" dirty="0"/>
              <a:t>.</a:t>
            </a: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30962"/>
          </a:xfrm>
        </p:spPr>
        <p:txBody>
          <a:bodyPr>
            <a:normAutofit/>
          </a:bodyPr>
          <a:lstStyle/>
          <a:p>
            <a:pPr algn="l"/>
            <a:r>
              <a:rPr lang="en-US" sz="2400" b="1" dirty="0" smtClean="0"/>
              <a:t>DYNAMIC AND EFFICIENT KEY MANAGEMENT FOR ACCESS HIERACHIES</a:t>
            </a:r>
            <a:br>
              <a:rPr lang="en-US" sz="2400" dirty="0" smtClean="0"/>
            </a:br>
            <a:br>
              <a:rPr lang="en-US" sz="2400" dirty="0" smtClean="0"/>
            </a:br>
            <a:r>
              <a:rPr lang="en-US" sz="2400" dirty="0" smtClean="0"/>
              <a:t>The hierarchy is modeled as a set of partially ordered classes</a:t>
            </a:r>
            <a:br>
              <a:rPr lang="en-US" sz="2400" dirty="0" smtClean="0"/>
            </a:br>
            <a:r>
              <a:rPr lang="en-US" sz="2400" dirty="0" smtClean="0"/>
              <a:t> and a user who obtains access to a certain class can also obtain access to all descendant classes of her class through key derivation.</a:t>
            </a:r>
            <a:br>
              <a:rPr lang="en-US" sz="2400" dirty="0" smtClean="0"/>
            </a:br>
            <a:br>
              <a:rPr lang="en-US" sz="2400" dirty="0" smtClean="0"/>
            </a:br>
            <a:r>
              <a:rPr lang="en-US" sz="2400" dirty="0" smtClean="0"/>
              <a:t>Our solution to the above problem has the following properties:</a:t>
            </a:r>
            <a:br>
              <a:rPr lang="en-US" sz="2400" dirty="0" smtClean="0"/>
            </a:br>
            <a:r>
              <a:rPr lang="en-US" sz="2400" dirty="0" smtClean="0"/>
              <a:t>(</a:t>
            </a:r>
            <a:r>
              <a:rPr lang="en-US" sz="2400" dirty="0" err="1" smtClean="0"/>
              <a:t>i</a:t>
            </a:r>
            <a:r>
              <a:rPr lang="en-US" sz="2400" dirty="0" smtClean="0"/>
              <a:t>) only hash functions are used for a node to derive a descendant key from its own key;</a:t>
            </a:r>
            <a:br>
              <a:rPr lang="en-US" sz="2400" dirty="0" smtClean="0"/>
            </a:br>
            <a:r>
              <a:rPr lang="en-US" sz="2400" dirty="0" smtClean="0"/>
              <a:t> (ii) the space complexity of the public information is the same as that of storing the hierarchy; </a:t>
            </a:r>
            <a:br>
              <a:rPr lang="en-US" sz="2400" dirty="0" smtClean="0"/>
            </a:br>
            <a:r>
              <a:rPr lang="en-US" sz="2400" dirty="0" smtClean="0"/>
              <a:t>(iii) the private information at a class consists of a single key associated with that class;</a:t>
            </a:r>
            <a:br>
              <a:rPr lang="en-US" sz="2400" dirty="0" smtClean="0"/>
            </a:br>
            <a:endParaRPr 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algn="l"/>
            <a:r>
              <a:rPr lang="en-US" dirty="0" smtClean="0">
                <a:solidFill>
                  <a:schemeClr val="tx1">
                    <a:lumMod val="95000"/>
                    <a:lumOff val="5000"/>
                  </a:schemeClr>
                </a:solidFill>
              </a:rPr>
              <a:t>               </a:t>
            </a:r>
            <a:r>
              <a:rPr lang="en-US" b="1" dirty="0" smtClean="0">
                <a:solidFill>
                  <a:schemeClr val="tx1">
                    <a:lumMod val="95000"/>
                    <a:lumOff val="5000"/>
                  </a:schemeClr>
                </a:solidFill>
              </a:rPr>
              <a:t>EXISTING SYSTEM</a:t>
            </a:r>
            <a:br>
              <a:rPr lang="en-US" dirty="0" smtClean="0">
                <a:solidFill>
                  <a:schemeClr val="tx1">
                    <a:lumMod val="95000"/>
                    <a:lumOff val="5000"/>
                  </a:schemeClr>
                </a:solidFill>
              </a:rPr>
            </a:br>
            <a:r>
              <a:rPr lang="en-US" sz="2400" dirty="0" smtClean="0">
                <a:solidFill>
                  <a:schemeClr val="tx1">
                    <a:lumMod val="95000"/>
                    <a:lumOff val="5000"/>
                  </a:schemeClr>
                </a:solidFill>
              </a:rPr>
              <a:t>ABE scheme doesn’t provide the verifiability . And also it is not feasible to construct the ABE schemes with verifiability and also it relies on random oracles(RO).</a:t>
            </a:r>
            <a:br>
              <a:rPr lang="en-US" sz="2400" dirty="0" smtClean="0">
                <a:solidFill>
                  <a:schemeClr val="tx1">
                    <a:lumMod val="95000"/>
                    <a:lumOff val="5000"/>
                  </a:schemeClr>
                </a:solidFill>
              </a:rPr>
            </a:br>
            <a:br>
              <a:rPr lang="en-US" sz="2400" dirty="0" smtClean="0">
                <a:solidFill>
                  <a:schemeClr val="tx1">
                    <a:lumMod val="95000"/>
                    <a:lumOff val="5000"/>
                  </a:schemeClr>
                </a:solidFill>
              </a:rPr>
            </a:br>
            <a:br>
              <a:rPr lang="en-US" sz="2400" dirty="0" smtClean="0">
                <a:solidFill>
                  <a:schemeClr val="tx1">
                    <a:lumMod val="95000"/>
                    <a:lumOff val="5000"/>
                  </a:schemeClr>
                </a:solidFill>
              </a:rPr>
            </a:br>
            <a:r>
              <a:rPr lang="en-US" sz="2400" dirty="0" smtClean="0">
                <a:solidFill>
                  <a:schemeClr val="tx1">
                    <a:lumMod val="95000"/>
                    <a:lumOff val="5000"/>
                  </a:schemeClr>
                </a:solidFill>
              </a:rPr>
              <a:t>There exist several expressive ABF schemes where the decryption algorithm only requires a constant number of pairing computations recent.</a:t>
            </a:r>
            <a:br>
              <a:rPr lang="en-US" sz="2400" dirty="0" smtClean="0">
                <a:solidFill>
                  <a:schemeClr val="tx1">
                    <a:lumMod val="95000"/>
                    <a:lumOff val="5000"/>
                  </a:schemeClr>
                </a:solidFill>
              </a:rPr>
            </a:br>
            <a:br>
              <a:rPr lang="en-US" sz="2400" dirty="0" smtClean="0">
                <a:solidFill>
                  <a:schemeClr val="tx1">
                    <a:lumMod val="95000"/>
                    <a:lumOff val="5000"/>
                  </a:schemeClr>
                </a:solidFill>
              </a:rPr>
            </a:br>
            <a:r>
              <a:rPr lang="en-US" sz="2400" dirty="0" smtClean="0">
                <a:solidFill>
                  <a:schemeClr val="tx1">
                    <a:lumMod val="95000"/>
                    <a:lumOff val="5000"/>
                  </a:schemeClr>
                </a:solidFill>
              </a:rPr>
              <a:t>We propose a new ABE model and based on this new model construct a concrete ABE scheme with verifiable out sourced decryption. Our scheme does not rely on random oracles</a:t>
            </a:r>
            <a:r>
              <a:rPr lang="en-US" sz="2700" dirty="0" smtClean="0">
                <a:solidFill>
                  <a:schemeClr val="tx1">
                    <a:lumMod val="95000"/>
                    <a:lumOff val="5000"/>
                  </a:schemeClr>
                </a:solidFill>
              </a:rPr>
              <a:t>.</a:t>
            </a:r>
            <a:br>
              <a:rPr lang="en-US" sz="2700" dirty="0" smtClean="0">
                <a:solidFill>
                  <a:schemeClr val="tx1">
                    <a:lumMod val="95000"/>
                    <a:lumOff val="5000"/>
                  </a:schemeClr>
                </a:solidFill>
              </a:rPr>
            </a:br>
            <a:br>
              <a:rPr lang="en-US" sz="2700" dirty="0" smtClean="0">
                <a:solidFill>
                  <a:schemeClr val="tx1">
                    <a:lumMod val="95000"/>
                    <a:lumOff val="5000"/>
                  </a:schemeClr>
                </a:solidFill>
              </a:rPr>
            </a:br>
            <a:br>
              <a:rPr lang="en-US" sz="2700" dirty="0" smtClean="0">
                <a:solidFill>
                  <a:schemeClr val="tx1">
                    <a:lumMod val="95000"/>
                    <a:lumOff val="5000"/>
                  </a:schemeClr>
                </a:solidFill>
              </a:rPr>
            </a:br>
            <a:endParaRPr lang="en-US" sz="2700"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normAutofit/>
          </a:bodyPr>
          <a:lstStyle/>
          <a:p>
            <a:pPr algn="l"/>
            <a:r>
              <a:rPr lang="en-US" sz="2400" dirty="0" smtClean="0"/>
              <a:t>                           </a:t>
            </a:r>
            <a:r>
              <a:rPr lang="en-US" sz="4000" b="1" dirty="0" smtClean="0"/>
              <a:t>PROPOSED SYSTEM</a:t>
            </a:r>
            <a:br>
              <a:rPr lang="en-US" sz="2400" dirty="0" smtClean="0"/>
            </a:br>
            <a:r>
              <a:rPr lang="en-US" sz="2400" dirty="0" smtClean="0"/>
              <a:t>In this system verifiability of the cloud’s transformation and provided  method to check the correctness of transformation.</a:t>
            </a:r>
            <a:br>
              <a:rPr lang="en-US" sz="2400" dirty="0" smtClean="0"/>
            </a:br>
            <a:br>
              <a:rPr lang="en-US" sz="2400" dirty="0" smtClean="0"/>
            </a:br>
            <a:r>
              <a:rPr lang="en-US" sz="2400" dirty="0" smtClean="0"/>
              <a:t>Random oracles provide the cryptographic schemes which are very secure. </a:t>
            </a:r>
            <a:br>
              <a:rPr lang="en-US" sz="2400" dirty="0" smtClean="0"/>
            </a:br>
            <a:br>
              <a:rPr lang="en-US" sz="2400" dirty="0" smtClean="0"/>
            </a:br>
            <a:r>
              <a:rPr lang="en-US" sz="2400" dirty="0" smtClean="0"/>
              <a:t>ABE model is proposed and based on this a concrete  ABE scheme with verifiable out sourced decryption is introduced.</a:t>
            </a:r>
            <a:br>
              <a:rPr lang="en-US" sz="2400" dirty="0" smtClean="0"/>
            </a:br>
            <a:r>
              <a:rPr lang="en-US" sz="2400" dirty="0" smtClean="0"/>
              <a:t>  </a:t>
            </a:r>
            <a:br>
              <a:rPr lang="en-US" sz="2400" dirty="0" smtClean="0"/>
            </a:br>
            <a:r>
              <a:rPr lang="en-US" sz="2400" dirty="0" smtClean="0"/>
              <a:t>To assess the performance of our ABE scheme with verifiable outsourced decryption, we implement the CP-ABE scheme with verifiable  out sourced decryption</a:t>
            </a:r>
            <a:br>
              <a:rPr lang="en-US" sz="2400" dirty="0" smtClean="0"/>
            </a:br>
            <a:br>
              <a:rPr lang="en-US" sz="2400" dirty="0" smtClean="0"/>
            </a:br>
            <a:endParaRPr 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30962"/>
          </a:xfrm>
        </p:spPr>
        <p:txBody>
          <a:bodyPr>
            <a:noAutofit/>
          </a:bodyPr>
          <a:lstStyle/>
          <a:p>
            <a:pPr algn="l"/>
            <a:r>
              <a:rPr lang="en-US" sz="3600" dirty="0" smtClean="0"/>
              <a:t>                          </a:t>
            </a:r>
            <a:r>
              <a:rPr lang="en-US" sz="3600" b="1" dirty="0" smtClean="0"/>
              <a:t>CONCLUSION</a:t>
            </a:r>
            <a:br>
              <a:rPr lang="en-US" sz="2400" dirty="0" smtClean="0"/>
            </a:br>
            <a:r>
              <a:rPr lang="en-US" sz="2400" dirty="0" smtClean="0"/>
              <a:t>To share data flexibly is vital thing in cloud computing. Users prefer to upload there data on cloud and among different users. Outsourcing of data to server may lead to leak the private data of user to everyone. Encryption is a one solution which provides to share selected data with desired candidate.</a:t>
            </a:r>
            <a:br>
              <a:rPr lang="en-US" sz="2400" dirty="0" smtClean="0"/>
            </a:br>
            <a:r>
              <a:rPr lang="en-US" sz="2400" dirty="0" smtClean="0"/>
              <a:t> </a:t>
            </a:r>
            <a:br>
              <a:rPr lang="en-US" sz="2400" dirty="0" smtClean="0"/>
            </a:br>
            <a:r>
              <a:rPr lang="en-US" sz="2400" dirty="0" smtClean="0"/>
              <a:t>Sharing of decryption keys in secure way plays important role. Public-key cryptosystems provides delegation of secret keys for different cipher text classes in cloud storage. The delegate gets</a:t>
            </a:r>
            <a:br>
              <a:rPr lang="en-US" sz="2400" dirty="0" smtClean="0"/>
            </a:br>
            <a:r>
              <a:rPr lang="en-US" sz="2400" dirty="0" smtClean="0"/>
              <a:t>securely an aggregate key of constant size.</a:t>
            </a:r>
            <a:br>
              <a:rPr lang="en-US" sz="2400" dirty="0" smtClean="0"/>
            </a:br>
            <a:br>
              <a:rPr lang="en-US" sz="2400" dirty="0" smtClean="0"/>
            </a:br>
            <a:r>
              <a:rPr lang="en-US" sz="2400" dirty="0" smtClean="0"/>
              <a:t>This technique provides security to the users from outsiders or intruders by implementing session hijacking and session fixation security in our system.</a:t>
            </a:r>
            <a:endParaRPr 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819400"/>
            <a:ext cx="7470648" cy="1036320"/>
          </a:xfrm>
        </p:spPr>
        <p:txBody>
          <a:bodyPr>
            <a:normAutofit fontScale="90000"/>
          </a:bodyPr>
          <a:lstStyle/>
          <a:p>
            <a:r>
              <a:rPr lang="en-US" dirty="0" smtClean="0"/>
              <a:t>       </a:t>
            </a:r>
            <a:r>
              <a:rPr lang="en-US" sz="6700" dirty="0" smtClean="0">
                <a:latin typeface="Arial Black" panose="020B0A04020102020204" pitchFamily="34" charset="0"/>
              </a:rPr>
              <a:t>THANK YOU</a:t>
            </a:r>
            <a:br>
              <a:rPr lang="en-US" sz="6700" dirty="0" smtClean="0">
                <a:latin typeface="Arial Black" panose="020B0A04020102020204" pitchFamily="34" charset="0"/>
              </a:rPr>
            </a:br>
            <a:endParaRPr lang="en-IN" sz="6700" dirty="0">
              <a:latin typeface="Arial Black" panose="020B0A040201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Technic</Template>
  <TotalTime>0</TotalTime>
  <Words>6596</Words>
  <Application>WPS Presentation</Application>
  <PresentationFormat>On-screen Show (4:3)</PresentationFormat>
  <Paragraphs>78</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Wingdings 2</vt:lpstr>
      <vt:lpstr>Arial</vt:lpstr>
      <vt:lpstr>Arial Black</vt:lpstr>
      <vt:lpstr>Microsoft YaHei</vt:lpstr>
      <vt:lpstr>Arial Unicode MS</vt:lpstr>
      <vt:lpstr>Franklin Gothic Book</vt:lpstr>
      <vt:lpstr>Calibri</vt:lpstr>
      <vt:lpstr>Technic</vt:lpstr>
      <vt:lpstr>PowerPoint 演示文稿</vt:lpstr>
      <vt:lpstr>PowerPoint 演示文稿</vt:lpstr>
      <vt:lpstr>                     ABSTRACT        Data security is the challenging issue in cloud computing paradigm where the user store sensitive information on cloud servers. Existing solutions generally use cryptographic methods like encryption and decryption. The biggest concerns with cloud data storage is that of  data integrity verification at un trusted server. To preserve the data   privacy, a basic solution is to encrypt data files, and then upload encrypted data into the cloud. For this it is proposed to have a public key CRYPTOSYSTEM for the storing and accessing for data in cloud. Now this system proposes to introduce variable size CRYPTOSYSTEM that is supported with a set of secret keys as a single keys and the process uses the power of the all the keys by using these compact aggregate key we encrypt files and storing cloud. This key is positive others who shares the data. By using this key others can share data in secured way.    keywords:cryptosystem,integration,encrypt,decrypt,confidentiality  </vt:lpstr>
      <vt:lpstr>PowerPoint 演示文稿</vt:lpstr>
      <vt:lpstr>MOTIVATION</vt:lpstr>
      <vt:lpstr>PROBLEM STATEMENT</vt:lpstr>
      <vt:lpstr>                                LITERATURE REVIEW Cloud computing is widely developed technology, remotely to be temporarily shared across multiple users in flexible manner than products. So cloud creates issues in data security, privacy integrity , and dynamic  updates.   This problem is solving by public auditing method, which ensure integrity and to reduce online burden on cloud data storage. So user may resort to third party auditor (TPA) to audit the data by using ring signatures.  The privacy preserving identity of the signer on each block from the TPA means, the group is pre-defined before shared data is created in the cloud .The membership of each users in the group is not changed during the data sharing stage.   The original user is responsible for who is able to share her data before outsourcing data to the cloud.  </vt:lpstr>
      <vt:lpstr>PowerPoint 演示文稿</vt:lpstr>
      <vt:lpstr>     AGGREGATE AND VERIFIABLY ENCTYPTED SIGNATURES  Given n Signatures on n distinct messages from n distinct users, it is possible to aggregate all these signatures into a single short signature. This single signature (and the n original messages) will convince the verifier that the n users did indeed sign the n original messages (i.e., user I signed message Mi for i = 1; : : : ; n).  Aggregate signatures are useful for reducing the size of certificate chains (by aggregating all signatures in the chain) and for reducing message size in secure routing protocols such as SBGP.  Aggregate signatures give rise to verifiably encrypted signatures.</vt:lpstr>
      <vt:lpstr>DYNAMIC AND EFFICIENT KEY MANAGEMENT FOR ACCESS HIERACHIES  The hierarchy is modeled as a set of partially ordered classes  and a user who obtains access to a certain class can also obtain access to all descendant classes of her class through key derivation.  Our solution to the above problem has the following properties: (i) only hash functions are used for a node to derive a descendant key from its own key;  (ii) the space complexity of the public information is the same as that of storing the hierarchy;  (iii) the private information at a class consists of a single key associated with that class; </vt:lpstr>
      <vt:lpstr>               EXISTING SYSTEM ABE scheme doesn’t provide the verifiability . And also it is not feasible to construct the ABE schemes with verifiability and also it relies on random oracles(RO).   There exist several expressive ABF schemes where the decryption algorithm only requires a constant number of pairing computations recent.  We propose a new ABE model and based on this new model construct a concrete ABE scheme with verifiable out sourced decryption. Our scheme does not rely on random oracles.   </vt:lpstr>
      <vt:lpstr>                           PROPOSED SYSTEM In this system verifiability of the cloud’s transformation and provided  method to check the correctness of transformation.  Random oracles provide the cryptographic schemes which are very secure.   ABE model is proposed and based on this a concrete  ABE scheme with verifiable out sourced decryption is introduced.    To assess the performance of our ABE scheme with verifiable outsourced decryption, we implement the CP-ABE scheme with verifiable  out sourced decryption  </vt:lpstr>
      <vt:lpstr>                          CONCLUSION To share data flexibly is vital thing in cloud computing. Users prefer to upload there data on cloud and among different users. Outsourcing of data to server may lead to leak the private data of user to everyone. Encryption is a one solution which provides to share selected data with desired candidate.   Sharing of decryption keys in secure way plays important role. Public-key cryptosystems provides delegation of secret keys for different cipher text classes in cloud storage. The delegate gets securely an aggregate key of constant size.  This technique provides security to the users from outsiders or intruders by implementing session hijacking and session fixation security in our system.</vt:lpstr>
      <vt:lpstr>       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dc:title>
  <dc:creator>sony_vaio</dc:creator>
  <cp:lastModifiedBy>meghanakandru95</cp:lastModifiedBy>
  <cp:revision>59</cp:revision>
  <dcterms:created xsi:type="dcterms:W3CDTF">2016-01-28T15:57:00Z</dcterms:created>
  <dcterms:modified xsi:type="dcterms:W3CDTF">2025-11-14T05:56:52Z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833CAA4369624F599D48F86D51014945_13</vt:lpwstr>
  </property>
  <property fmtid="{D5CDD505-2E9C-101B-9397-08002B2CF9AE}" pid="3" name="KSOProductBuildVer">
    <vt:lpwstr>1033-12.2.0.23155</vt:lpwstr>
  </property>
</Properties>
</file>